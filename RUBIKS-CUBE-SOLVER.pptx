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0"/>
  </p:notesMasterIdLst>
  <p:handoutMasterIdLst>
    <p:handoutMasterId r:id="rId11"/>
  </p:handoutMasterIdLst>
  <p:sldIdLst>
    <p:sldId id="256" r:id="rId5"/>
    <p:sldId id="276" r:id="rId6"/>
    <p:sldId id="278" r:id="rId7"/>
    <p:sldId id="277" r:id="rId8"/>
    <p:sldId id="28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showGuides="1">
      <p:cViewPr varScale="1">
        <p:scale>
          <a:sx n="86" d="100"/>
          <a:sy n="86" d="100"/>
        </p:scale>
        <p:origin x="562" y="53"/>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6/14/2021</a:t>
            </a:fld>
            <a:endParaRPr lang="en-US" dirty="0"/>
          </a:p>
        </p:txBody>
      </p:sp>
      <p:sp>
        <p:nvSpPr>
          <p:cNvPr id="4" name="Footer Placeholder 3">
            <a:extLst>
              <a:ext uri="{FF2B5EF4-FFF2-40B4-BE49-F238E27FC236}">
                <a16:creationId xmlns:a16="http://schemas.microsoft.com/office/drawing/2014/main" xmlns=""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6/14/2021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1772151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xmlns=""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xmlns="" id="{1FBEFBAF-82E9-49AD-B2CF-7D154E024431}"/>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5" name="Footer Placeholder 4">
            <a:extLst>
              <a:ext uri="{FF2B5EF4-FFF2-40B4-BE49-F238E27FC236}">
                <a16:creationId xmlns:a16="http://schemas.microsoft.com/office/drawing/2014/main" xmlns=""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807FBE-061D-452C-A8A6-213063CFD678}"/>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xmlns="" id="{433A3535-1708-499D-B5D2-7D8F9FD182D0}"/>
              </a:ext>
            </a:extLst>
          </p:cNvPr>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xmlns="" id="{ACB06063-A112-49AB-80C8-504D99ECD771}"/>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5" name="Footer Placeholder 4">
            <a:extLst>
              <a:ext uri="{FF2B5EF4-FFF2-40B4-BE49-F238E27FC236}">
                <a16:creationId xmlns:a16="http://schemas.microsoft.com/office/drawing/2014/main" xmlns=""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xmlns=""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16:creationId xmlns:a16="http://schemas.microsoft.com/office/drawing/2014/main" xmlns="" id="{D5FF82DB-B518-40FD-8A66-44B874C055FB}"/>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5" name="Footer Placeholder 4">
            <a:extLst>
              <a:ext uri="{FF2B5EF4-FFF2-40B4-BE49-F238E27FC236}">
                <a16:creationId xmlns:a16="http://schemas.microsoft.com/office/drawing/2014/main" xmlns=""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CC9BDC-6F21-4EF5-A8DD-E35E27EACA58}"/>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xmlns="" id="{6B968D5F-2AB6-42D3-A54E-AB3E60325170}"/>
              </a:ext>
            </a:extLst>
          </p:cNvPr>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xmlns="" id="{465AB07F-D5F7-402A-AE4E-027BF1CA9127}"/>
              </a:ext>
            </a:extLst>
          </p:cNvPr>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xmlns="" id="{85108EDC-3863-43B9-93C7-37465DC73B28}"/>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6" name="Footer Placeholder 5">
            <a:extLst>
              <a:ext uri="{FF2B5EF4-FFF2-40B4-BE49-F238E27FC236}">
                <a16:creationId xmlns:a16="http://schemas.microsoft.com/office/drawing/2014/main" xmlns=""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E8C848-926A-4FD3-A311-A100A2662BE1}"/>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xmlns=""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a:extLst>
              <a:ext uri="{FF2B5EF4-FFF2-40B4-BE49-F238E27FC236}">
                <a16:creationId xmlns:a16="http://schemas.microsoft.com/office/drawing/2014/main" xmlns="" id="{335A6C3A-033E-474B-AB97-D8291A04E7DD}"/>
              </a:ext>
            </a:extLst>
          </p:cNvPr>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xmlns=""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a:extLst>
              <a:ext uri="{FF2B5EF4-FFF2-40B4-BE49-F238E27FC236}">
                <a16:creationId xmlns:a16="http://schemas.microsoft.com/office/drawing/2014/main" xmlns="" id="{3BDC8376-6FC6-4A11-B0DB-9A148E9C00E2}"/>
              </a:ext>
            </a:extLst>
          </p:cNvPr>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xmlns="" id="{6E80206F-8846-425C-A56E-16FFBA442014}"/>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8" name="Footer Placeholder 7">
            <a:extLst>
              <a:ext uri="{FF2B5EF4-FFF2-40B4-BE49-F238E27FC236}">
                <a16:creationId xmlns:a16="http://schemas.microsoft.com/office/drawing/2014/main" xmlns=""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60E367-8DA0-4655-BCBC-F4280D8642CD}"/>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xmlns="" id="{2FEF9592-AA3C-4CF8-A5DB-4D010195A438}"/>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4" name="Footer Placeholder 3">
            <a:extLst>
              <a:ext uri="{FF2B5EF4-FFF2-40B4-BE49-F238E27FC236}">
                <a16:creationId xmlns:a16="http://schemas.microsoft.com/office/drawing/2014/main" xmlns=""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EA599B4-6AB2-4190-82B5-7667EE1E922A}"/>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3" name="Footer Placeholder 2">
            <a:extLst>
              <a:ext uri="{FF2B5EF4-FFF2-40B4-BE49-F238E27FC236}">
                <a16:creationId xmlns:a16="http://schemas.microsoft.com/office/drawing/2014/main" xmlns=""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xmlns=""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xmlns=""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a16="http://schemas.microsoft.com/office/drawing/2014/main" xmlns="" id="{F180DD20-7A20-4574-98A4-427795876739}"/>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6" name="Footer Placeholder 5">
            <a:extLst>
              <a:ext uri="{FF2B5EF4-FFF2-40B4-BE49-F238E27FC236}">
                <a16:creationId xmlns:a16="http://schemas.microsoft.com/office/drawing/2014/main" xmlns=""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xmlns=""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xmlns=""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a16="http://schemas.microsoft.com/office/drawing/2014/main" xmlns="" id="{5C3C3F7B-A4C8-4F9D-8165-BC5186EA0929}"/>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6" name="Footer Placeholder 5">
            <a:extLst>
              <a:ext uri="{FF2B5EF4-FFF2-40B4-BE49-F238E27FC236}">
                <a16:creationId xmlns:a16="http://schemas.microsoft.com/office/drawing/2014/main" xmlns=""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F7B869-BFB2-4C20-8AB1-46704BB3D177}"/>
              </a:ext>
            </a:extLst>
          </p:cNvPr>
          <p:cNvSpPr>
            <a:spLocks noGrp="1"/>
          </p:cNvSpPr>
          <p:nvPr>
            <p:ph type="title"/>
          </p:nvPr>
        </p:nvSpPr>
        <p:spPr/>
        <p:txBody>
          <a:bodyPr/>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xmlns="" id="{19F007DB-4F12-4428-9C48-5120DF07046D}"/>
              </a:ext>
            </a:extLst>
          </p:cNvPr>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xmlns="" id="{16FFA8DA-0E31-4CA6-BBFC-2467AAD1D30B}"/>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5" name="Footer Placeholder 4">
            <a:extLst>
              <a:ext uri="{FF2B5EF4-FFF2-40B4-BE49-F238E27FC236}">
                <a16:creationId xmlns:a16="http://schemas.microsoft.com/office/drawing/2014/main" xmlns=""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60B5D73-1652-4A8E-B5A3-101523D7290A}"/>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xmlns="" id="{A9B7FB99-7425-444D-B602-01B672BCE8C6}"/>
              </a:ext>
            </a:extLst>
          </p:cNvPr>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xmlns="" id="{00EEA9C5-552A-48A1-AB54-ED54209B3B48}"/>
              </a:ext>
            </a:extLst>
          </p:cNvPr>
          <p:cNvSpPr>
            <a:spLocks noGrp="1"/>
          </p:cNvSpPr>
          <p:nvPr>
            <p:ph type="dt" sz="half" idx="10"/>
          </p:nvPr>
        </p:nvSpPr>
        <p:spPr/>
        <p:txBody>
          <a:bodyPr/>
          <a:lstStyle/>
          <a:p>
            <a:fld id="{40DA1498-92C7-4E4B-8045-C9195F453964}" type="datetimeFigureOut">
              <a:rPr lang="en-US" smtClean="0"/>
              <a:t>6/14/2021</a:t>
            </a:fld>
            <a:endParaRPr lang="en-US" dirty="0"/>
          </a:p>
        </p:txBody>
      </p:sp>
      <p:sp>
        <p:nvSpPr>
          <p:cNvPr id="5" name="Footer Placeholder 4">
            <a:extLst>
              <a:ext uri="{FF2B5EF4-FFF2-40B4-BE49-F238E27FC236}">
                <a16:creationId xmlns:a16="http://schemas.microsoft.com/office/drawing/2014/main" xmlns=""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xmlns=""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xmlns=""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6/14/2021</a:t>
            </a:fld>
            <a:endParaRPr lang="en-US" dirty="0"/>
          </a:p>
        </p:txBody>
      </p:sp>
      <p:sp>
        <p:nvSpPr>
          <p:cNvPr id="5" name="Footer Placeholder 4">
            <a:extLst>
              <a:ext uri="{FF2B5EF4-FFF2-40B4-BE49-F238E27FC236}">
                <a16:creationId xmlns:a16="http://schemas.microsoft.com/office/drawing/2014/main" xmlns=""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xmlns=""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300AEF-1595-4419-801B-6E36A33BB8CF}"/>
              </a:ext>
            </a:extLst>
          </p:cNvPr>
          <p:cNvSpPr>
            <a:spLocks noGrp="1"/>
          </p:cNvSpPr>
          <p:nvPr>
            <p:ph type="ctrTitle"/>
          </p:nvPr>
        </p:nvSpPr>
        <p:spPr>
          <a:xfrm>
            <a:off x="1523999" y="611904"/>
            <a:ext cx="9144000" cy="830997"/>
          </a:xfrm>
        </p:spPr>
        <p:txBody>
          <a:bodyPr lIns="0" tIns="0" rIns="0" bIns="0" anchor="t">
            <a:spAutoFit/>
          </a:bodyPr>
          <a:lstStyle/>
          <a:p>
            <a:r>
              <a:rPr lang="en-US" dirty="0" smtClean="0">
                <a:solidFill>
                  <a:srgbClr val="FFC000"/>
                </a:solidFill>
                <a:latin typeface="Times New Roman" panose="02020603050405020304" pitchFamily="18" charset="0"/>
                <a:cs typeface="Times New Roman" panose="02020603050405020304" pitchFamily="18" charset="0"/>
              </a:rPr>
              <a:t>RUBIK’S CUBE SOLVER</a:t>
            </a:r>
            <a:endParaRPr lang="en-US" dirty="0">
              <a:solidFill>
                <a:srgbClr val="FFC000"/>
              </a:solidFill>
            </a:endParaRPr>
          </a:p>
        </p:txBody>
      </p:sp>
      <p:sp>
        <p:nvSpPr>
          <p:cNvPr id="3" name="TextBox 2"/>
          <p:cNvSpPr txBox="1"/>
          <p:nvPr/>
        </p:nvSpPr>
        <p:spPr>
          <a:xfrm>
            <a:off x="2947387" y="2831977"/>
            <a:ext cx="5655075" cy="1384995"/>
          </a:xfrm>
          <a:prstGeom prst="rect">
            <a:avLst/>
          </a:prstGeom>
          <a:noFill/>
        </p:spPr>
        <p:txBody>
          <a:bodyPr wrap="square" rtlCol="0">
            <a:spAutoFit/>
          </a:bodyPr>
          <a:lstStyle/>
          <a:p>
            <a:pPr algn="ctr"/>
            <a:r>
              <a:rPr lang="en-US" sz="2800" dirty="0" smtClean="0">
                <a:solidFill>
                  <a:schemeClr val="bg1"/>
                </a:solidFill>
                <a:latin typeface="Times New Roman" panose="02020603050405020304" pitchFamily="18" charset="0"/>
                <a:cs typeface="Times New Roman" panose="02020603050405020304" pitchFamily="18" charset="0"/>
              </a:rPr>
              <a:t>1705022-Solaiman Ahmed</a:t>
            </a:r>
          </a:p>
          <a:p>
            <a:pPr algn="ctr"/>
            <a:r>
              <a:rPr lang="en-US" sz="2800" dirty="0" smtClean="0">
                <a:solidFill>
                  <a:schemeClr val="bg1"/>
                </a:solidFill>
                <a:latin typeface="Times New Roman" panose="02020603050405020304" pitchFamily="18" charset="0"/>
                <a:cs typeface="Times New Roman" panose="02020603050405020304" pitchFamily="18" charset="0"/>
              </a:rPr>
              <a:t>1705031-Md.Mahedi Hasan </a:t>
            </a:r>
            <a:r>
              <a:rPr lang="en-US" sz="2800" dirty="0" err="1" smtClean="0">
                <a:solidFill>
                  <a:schemeClr val="bg1"/>
                </a:solidFill>
                <a:latin typeface="Times New Roman" panose="02020603050405020304" pitchFamily="18" charset="0"/>
                <a:cs typeface="Times New Roman" panose="02020603050405020304" pitchFamily="18" charset="0"/>
              </a:rPr>
              <a:t>Rigan</a:t>
            </a:r>
            <a:endParaRPr lang="en-US" sz="2800" dirty="0" smtClean="0">
              <a:solidFill>
                <a:schemeClr val="bg1"/>
              </a:solidFill>
              <a:latin typeface="Times New Roman" panose="02020603050405020304" pitchFamily="18" charset="0"/>
              <a:cs typeface="Times New Roman" panose="02020603050405020304" pitchFamily="18" charset="0"/>
            </a:endParaRPr>
          </a:p>
          <a:p>
            <a:pPr algn="ctr"/>
            <a:r>
              <a:rPr lang="en-US" sz="2800" dirty="0" smtClean="0">
                <a:solidFill>
                  <a:schemeClr val="bg1"/>
                </a:solidFill>
                <a:latin typeface="Times New Roman" panose="02020603050405020304" pitchFamily="18" charset="0"/>
                <a:cs typeface="Times New Roman" panose="02020603050405020304" pitchFamily="18" charset="0"/>
              </a:rPr>
              <a:t>1705041-Asif Mustafa Hassan</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922014" y="5475677"/>
            <a:ext cx="7705817" cy="677108"/>
          </a:xfrm>
          <a:prstGeom prst="rect">
            <a:avLst/>
          </a:prstGeom>
          <a:noFill/>
        </p:spPr>
        <p:txBody>
          <a:bodyPr wrap="square" rtlCol="0">
            <a:spAutoFit/>
          </a:bodyPr>
          <a:lstStyle/>
          <a:p>
            <a:r>
              <a:rPr lang="en-US" sz="2000" b="1" dirty="0" smtClean="0">
                <a:solidFill>
                  <a:schemeClr val="bg1"/>
                </a:solidFill>
                <a:latin typeface="Times New Roman" panose="02020603050405020304" pitchFamily="18" charset="0"/>
                <a:cs typeface="Times New Roman" panose="02020603050405020304" pitchFamily="18" charset="0"/>
              </a:rPr>
              <a:t>Microprocessors</a:t>
            </a:r>
            <a:r>
              <a:rPr lang="en-US" sz="2000" b="1" dirty="0">
                <a:solidFill>
                  <a:schemeClr val="bg1"/>
                </a:solidFill>
                <a:latin typeface="Times New Roman" panose="02020603050405020304" pitchFamily="18" charset="0"/>
                <a:cs typeface="Times New Roman" panose="02020603050405020304" pitchFamily="18" charset="0"/>
              </a:rPr>
              <a:t>, Microcontrollers, and Embedded Systems Sessional</a:t>
            </a:r>
          </a:p>
          <a:p>
            <a:endParaRPr lang="en-US" dirty="0"/>
          </a:p>
        </p:txBody>
      </p:sp>
      <p:sp>
        <p:nvSpPr>
          <p:cNvPr id="11" name="TextBox 10"/>
          <p:cNvSpPr txBox="1"/>
          <p:nvPr/>
        </p:nvSpPr>
        <p:spPr>
          <a:xfrm>
            <a:off x="5038077" y="4660775"/>
            <a:ext cx="1473693" cy="523220"/>
          </a:xfrm>
          <a:prstGeom prst="rect">
            <a:avLst/>
          </a:prstGeom>
          <a:noFill/>
        </p:spPr>
        <p:txBody>
          <a:bodyPr wrap="square" rtlCol="0">
            <a:spAutoFit/>
          </a:bodyPr>
          <a:lstStyle/>
          <a:p>
            <a:r>
              <a:rPr lang="en-US" sz="2800" dirty="0" smtClean="0">
                <a:solidFill>
                  <a:srgbClr val="FFC000"/>
                </a:solidFill>
                <a:latin typeface="Times New Roman" panose="02020603050405020304" pitchFamily="18" charset="0"/>
                <a:cs typeface="Times New Roman" panose="02020603050405020304" pitchFamily="18" charset="0"/>
              </a:rPr>
              <a:t>CSE 316</a:t>
            </a:r>
            <a:endParaRPr lang="en-US" sz="2800"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78490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xmlns=""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396841"/>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rPr>
              <a:t>Rubik’s </a:t>
            </a:r>
            <a:r>
              <a:rPr lang="en-US" sz="2800" b="1" dirty="0">
                <a:solidFill>
                  <a:schemeClr val="tx1">
                    <a:lumMod val="75000"/>
                    <a:lumOff val="25000"/>
                  </a:schemeClr>
                </a:solidFill>
              </a:rPr>
              <a:t>C</a:t>
            </a:r>
            <a:r>
              <a:rPr lang="en-US" sz="2800" b="1" dirty="0" smtClean="0">
                <a:solidFill>
                  <a:schemeClr val="tx1">
                    <a:lumMod val="75000"/>
                    <a:lumOff val="25000"/>
                  </a:schemeClr>
                </a:solidFill>
              </a:rPr>
              <a:t>ube </a:t>
            </a:r>
            <a:r>
              <a:rPr lang="en-US" sz="2800" b="1" dirty="0">
                <a:solidFill>
                  <a:schemeClr val="tx1">
                    <a:lumMod val="75000"/>
                    <a:lumOff val="25000"/>
                  </a:schemeClr>
                </a:solidFill>
              </a:rPr>
              <a:t>S</a:t>
            </a:r>
            <a:r>
              <a:rPr lang="en-US" sz="2800" b="1" dirty="0" smtClean="0">
                <a:solidFill>
                  <a:schemeClr val="tx1">
                    <a:lumMod val="75000"/>
                    <a:lumOff val="25000"/>
                  </a:schemeClr>
                </a:solidFill>
              </a:rPr>
              <a:t>olver</a:t>
            </a:r>
            <a:r>
              <a:rPr lang="en-US" sz="2800" dirty="0">
                <a:solidFill>
                  <a:schemeClr val="tx1">
                    <a:lumMod val="75000"/>
                    <a:lumOff val="25000"/>
                  </a:schemeClr>
                </a:solidFill>
              </a:rPr>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396841"/>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967666" y="1191078"/>
            <a:ext cx="2214068" cy="584775"/>
          </a:xfrm>
          <a:prstGeom prst="rect">
            <a:avLst/>
          </a:prstGeom>
          <a:noFill/>
        </p:spPr>
        <p:txBody>
          <a:bodyPr wrap="none" rtlCol="0">
            <a:spAutoFit/>
          </a:bodyPr>
          <a:lstStyle/>
          <a:p>
            <a:r>
              <a:rPr lang="en-US" sz="3200" b="1" dirty="0" smtClean="0">
                <a:latin typeface="Times New Roman" panose="02020603050405020304" pitchFamily="18" charset="0"/>
                <a:cs typeface="Times New Roman" panose="02020603050405020304" pitchFamily="18" charset="0"/>
              </a:rPr>
              <a:t>Description</a:t>
            </a:r>
            <a:endParaRPr lang="en-US" sz="32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67666" y="2219417"/>
            <a:ext cx="5122416" cy="3046988"/>
          </a:xfrm>
          <a:prstGeom prst="rect">
            <a:avLst/>
          </a:prstGeom>
          <a:noFill/>
        </p:spPr>
        <p:txBody>
          <a:bodyPr wrap="square" rtlCol="0">
            <a:spAutoFit/>
          </a:bodyPr>
          <a:lstStyle/>
          <a:p>
            <a:r>
              <a:rPr lang="en-US" sz="2400" dirty="0" smtClean="0">
                <a:latin typeface="Times New Roman" panose="02020603050405020304" pitchFamily="18" charset="0"/>
                <a:cs typeface="Times New Roman" panose="02020603050405020304" pitchFamily="18" charset="0"/>
              </a:rPr>
              <a:t>We want to make a robot which can solve any 3*3*3 Rubik’s cube. The robot first see all the faces of the cube and memorize it. Then, we will determine our move using an algorithm and at last to execute the planned move we will use motor to exchange the position of cube piece.</a:t>
            </a:r>
            <a:endParaRPr lang="en-US"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15671" y="1687651"/>
            <a:ext cx="5136019" cy="4100589"/>
          </a:xfrm>
          <a:prstGeom prst="rect">
            <a:avLst/>
          </a:prstGeom>
        </p:spPr>
      </p:pic>
    </p:spTree>
    <p:extLst>
      <p:ext uri="{BB962C8B-B14F-4D97-AF65-F5344CB8AC3E}">
        <p14:creationId xmlns:p14="http://schemas.microsoft.com/office/powerpoint/2010/main" val="32997151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xmlns="" id="{ED2F5393-91A3-4102-A584-E902285C507A}"/>
              </a:ext>
            </a:extLst>
          </p:cNvPr>
          <p:cNvSpPr>
            <a:spLocks noGrp="1"/>
          </p:cNvSpPr>
          <p:nvPr>
            <p:ph type="title" idx="4294967295"/>
          </p:nvPr>
        </p:nvSpPr>
        <p:spPr>
          <a:xfrm>
            <a:off x="0" y="365125"/>
            <a:ext cx="10515600" cy="1325563"/>
          </a:xfrm>
        </p:spPr>
        <p:txBody>
          <a:bodyPr/>
          <a:lstStyle/>
          <a:p>
            <a:r>
              <a:rPr lang="en-US" dirty="0"/>
              <a:t>Project analysis slide 4</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425243"/>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rPr>
              <a:t>Rubik’s Cube Solver</a:t>
            </a:r>
            <a:r>
              <a:rPr lang="en-US" sz="2800" dirty="0">
                <a:solidFill>
                  <a:schemeClr val="tx1">
                    <a:lumMod val="75000"/>
                    <a:lumOff val="25000"/>
                  </a:schemeClr>
                </a:solidFill>
              </a:rPr>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425243"/>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878889" y="2435230"/>
            <a:ext cx="10528917"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goal of this project was to create a robot that could determine the state of a scrambled Rubik’s Cube and then solve </a:t>
            </a:r>
            <a:r>
              <a:rPr lang="en-US" sz="2800" dirty="0" smtClean="0">
                <a:latin typeface="Times New Roman" panose="02020603050405020304" pitchFamily="18" charset="0"/>
                <a:cs typeface="Times New Roman" panose="02020603050405020304" pitchFamily="18" charset="0"/>
              </a:rPr>
              <a:t>it.</a:t>
            </a:r>
          </a:p>
          <a:p>
            <a:endParaRPr lang="en-US" sz="2800" dirty="0" smtClean="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Combination of hardware and software systems</a:t>
            </a:r>
          </a:p>
          <a:p>
            <a:pPr marL="742950" lvl="1" indent="-28575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Rubik’s cube is a fascinating puzzle</a:t>
            </a:r>
            <a:endParaRPr lang="en-US"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78889" y="1298495"/>
            <a:ext cx="2467993" cy="646331"/>
          </a:xfrm>
          <a:prstGeom prst="rect">
            <a:avLst/>
          </a:prstGeom>
          <a:noFill/>
        </p:spPr>
        <p:txBody>
          <a:bodyPr wrap="square" rtlCol="0">
            <a:spAutoFit/>
          </a:bodyPr>
          <a:lstStyle/>
          <a:p>
            <a:r>
              <a:rPr lang="en-US" sz="3600" b="1" dirty="0" smtClean="0">
                <a:latin typeface="Times New Roman" panose="02020603050405020304" pitchFamily="18" charset="0"/>
                <a:cs typeface="Times New Roman" panose="02020603050405020304" pitchFamily="18" charset="0"/>
              </a:rPr>
              <a:t>Motivation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37681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xmlns=""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xmlns="" id="{D0986099-F5F2-4E8B-BE17-81194861A00C}"/>
              </a:ext>
              <a:ext uri="{C183D7F6-B498-43B3-948B-1728B52AA6E4}">
                <adec:decorative xmlns:adec="http://schemas.microsoft.com/office/drawing/2017/decorative" xmlns="" val="1"/>
              </a:ext>
            </a:extLst>
          </p:cNvPr>
          <p:cNvCxnSpPr>
            <a:cxnSpLocks/>
          </p:cNvCxnSpPr>
          <p:nvPr/>
        </p:nvCxnSpPr>
        <p:spPr>
          <a:xfrm>
            <a:off x="8105775" y="406604"/>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xmlns=""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tx1">
                    <a:lumMod val="75000"/>
                    <a:lumOff val="25000"/>
                  </a:schemeClr>
                </a:solidFill>
              </a:rPr>
              <a:t>Rubik’s Cube Solver</a:t>
            </a:r>
            <a:r>
              <a:rPr lang="en-US" sz="2800" dirty="0">
                <a:solidFill>
                  <a:schemeClr val="tx1">
                    <a:lumMod val="75000"/>
                    <a:lumOff val="25000"/>
                  </a:schemeClr>
                </a:solidFill>
              </a:rPr>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xmlns="" id="{83E690F4-843A-47A5-8620-4FB01C0D8E68}"/>
              </a:ext>
              <a:ext uri="{C183D7F6-B498-43B3-948B-1728B52AA6E4}">
                <adec:decorative xmlns:adec="http://schemas.microsoft.com/office/drawing/2017/decorative" xmlns="" val="1"/>
              </a:ext>
            </a:extLst>
          </p:cNvPr>
          <p:cNvCxnSpPr>
            <a:cxnSpLocks/>
          </p:cNvCxnSpPr>
          <p:nvPr/>
        </p:nvCxnSpPr>
        <p:spPr>
          <a:xfrm>
            <a:off x="0" y="389733"/>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145219" y="1158808"/>
            <a:ext cx="4323426"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Required Components</a:t>
            </a:r>
            <a:endParaRPr lang="en-US" sz="28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043112" y="2077375"/>
            <a:ext cx="5228948" cy="4431983"/>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Atmega32</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Arduino UNO R3</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Stepper motors</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Stepper </a:t>
            </a:r>
            <a:r>
              <a:rPr lang="en-US" sz="2400" dirty="0">
                <a:latin typeface="Times New Roman" panose="02020603050405020304" pitchFamily="18" charset="0"/>
                <a:cs typeface="Times New Roman" panose="02020603050405020304" pitchFamily="18" charset="0"/>
              </a:rPr>
              <a:t>motor </a:t>
            </a:r>
            <a:r>
              <a:rPr lang="en-US" sz="2400" dirty="0" smtClean="0">
                <a:latin typeface="Times New Roman" panose="02020603050405020304" pitchFamily="18" charset="0"/>
                <a:cs typeface="Times New Roman" panose="02020603050405020304" pitchFamily="18" charset="0"/>
              </a:rPr>
              <a:t>drivers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RGB color </a:t>
            </a:r>
            <a:r>
              <a:rPr lang="en-US" sz="2400" dirty="0" smtClean="0">
                <a:latin typeface="Times New Roman" panose="02020603050405020304" pitchFamily="18" charset="0"/>
                <a:cs typeface="Times New Roman" panose="02020603050405020304" pitchFamily="18" charset="0"/>
              </a:rPr>
              <a:t>sensors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3D printed shaft-cube couplers</a:t>
            </a:r>
            <a:endParaRPr lang="en-US" sz="24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Wires</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USB cable</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Popsicle sticks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a:t>
            </a:r>
            <a:r>
              <a:rPr lang="en-US" sz="2400" dirty="0" smtClean="0">
                <a:latin typeface="Times New Roman" panose="02020603050405020304" pitchFamily="18" charset="0"/>
                <a:cs typeface="Times New Roman" panose="02020603050405020304" pitchFamily="18" charset="0"/>
              </a:rPr>
              <a:t>ooden skewers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Rubik’s Cube</a:t>
            </a:r>
            <a:endParaRPr lang="en-US" sz="2400"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225691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xmlns="" id="{62A21665-C64F-4BDA-B2DE-442D70605718}"/>
              </a:ext>
              <a:ext uri="{C183D7F6-B498-43B3-948B-1728B52AA6E4}">
                <adec:decorative xmlns:adec="http://schemas.microsoft.com/office/drawing/2017/decorative" xmlns=""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xmlns=""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xmlns=""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xmlns=""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 Boardroom</Template>
  <TotalTime>0</TotalTime>
  <Words>173</Words>
  <Application>Microsoft Office PowerPoint</Application>
  <PresentationFormat>Widescreen</PresentationFormat>
  <Paragraphs>37</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Century Gothic</vt:lpstr>
      <vt:lpstr>Segoe UI Light</vt:lpstr>
      <vt:lpstr>Times New Roman</vt:lpstr>
      <vt:lpstr>Office Theme</vt:lpstr>
      <vt:lpstr>RUBIK’S CUBE SOLVER</vt:lpstr>
      <vt:lpstr>Project analysis slide 2</vt:lpstr>
      <vt:lpstr>Project analysis slide 4</vt:lpstr>
      <vt:lpstr>Project analysis slide 3</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2021-06-13T18:59:41Z</dcterms:created>
  <dcterms:modified xsi:type="dcterms:W3CDTF">2021-06-13T20:15:11Z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